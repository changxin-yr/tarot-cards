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abd27e9124047d0" /><Relationship Type="http://schemas.openxmlformats.org/officeDocument/2006/relationships/extended-properties" Target="/docProps/app.xml" Id="Ra74580348bb54f57" /><Relationship Type="http://schemas.openxmlformats.org/officeDocument/2006/relationships/officeDocument" Target="/ppt/presentation.xml" Id="R95cf999b49e2489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8806399837446f9"/>
  </p:sldMasterIdLst>
  <p:notesMasterIdLst>
    <p:notesMasterId xmlns:r="http://schemas.openxmlformats.org/officeDocument/2006/relationships" r:id="R778990abc12c403e"/>
  </p:notesMasterIdLst>
  <p:sldIdLst>
    <p:sldId xmlns:r="http://schemas.openxmlformats.org/officeDocument/2006/relationships" id="256" r:id="R023467c9567647f4"/>
    <p:sldId xmlns:r="http://schemas.openxmlformats.org/officeDocument/2006/relationships" id="257" r:id="R9ef24659f5c54fd3"/>
    <p:sldId xmlns:r="http://schemas.openxmlformats.org/officeDocument/2006/relationships" id="258" r:id="R7135d7a6b70d4799"/>
    <p:sldId xmlns:r="http://schemas.openxmlformats.org/officeDocument/2006/relationships" id="259" r:id="R8d98ab5c6a1046fd"/>
    <p:sldId xmlns:r="http://schemas.openxmlformats.org/officeDocument/2006/relationships" id="260" r:id="R87071130d87d4a67"/>
    <p:sldId xmlns:r="http://schemas.openxmlformats.org/officeDocument/2006/relationships" id="261" r:id="Rb3a0502d885646ec"/>
  </p:sldIdLst>
  <p:sldSz cx="1219169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ccc824b21f244bb" /><Relationship Type="http://schemas.openxmlformats.org/officeDocument/2006/relationships/slideMaster" Target="/ppt/slideMasters/slideMaster1.xml" Id="R28806399837446f9" /><Relationship Type="http://schemas.openxmlformats.org/officeDocument/2006/relationships/notesMaster" Target="/ppt/notesMasters/notesMaster1.xml" Id="R778990abc12c403e" /><Relationship Type="http://schemas.openxmlformats.org/officeDocument/2006/relationships/presProps" Target="/ppt/presProps.xml" Id="Rb0f8c86a52374878" /><Relationship Type="http://schemas.openxmlformats.org/officeDocument/2006/relationships/viewProps" Target="/ppt/viewProps.xml" Id="R477f9d997d8e48d4" /><Relationship Type="http://schemas.openxmlformats.org/officeDocument/2006/relationships/tableStyles" Target="/ppt/tableStyles.xml" Id="Ra46cc4e318e44d6b" /><Relationship Type="http://schemas.openxmlformats.org/officeDocument/2006/relationships/slide" Target="/ppt/slides/slide1.xml" Id="R023467c9567647f4" /><Relationship Type="http://schemas.openxmlformats.org/officeDocument/2006/relationships/slide" Target="/ppt/slides/slide2.xml" Id="R9ef24659f5c54fd3" /><Relationship Type="http://schemas.openxmlformats.org/officeDocument/2006/relationships/slide" Target="/ppt/slides/slide3.xml" Id="R7135d7a6b70d4799" /><Relationship Type="http://schemas.openxmlformats.org/officeDocument/2006/relationships/slide" Target="/ppt/slides/slide4.xml" Id="R8d98ab5c6a1046fd" /><Relationship Type="http://schemas.openxmlformats.org/officeDocument/2006/relationships/slide" Target="/ppt/slides/slide5.xml" Id="R87071130d87d4a67" /><Relationship Type="http://schemas.openxmlformats.org/officeDocument/2006/relationships/slide" Target="/ppt/slides/slide6.xml" Id="Rb3a0502d885646e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96ec890a235432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561b0a0902f4d8c" /><Relationship Type="http://schemas.openxmlformats.org/officeDocument/2006/relationships/notesMaster" Target="/ppt/notesMasters/notesMaster1.xml" Id="Rc5e1dfe7757a42c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70f49676135417d" /><Relationship Type="http://schemas.openxmlformats.org/officeDocument/2006/relationships/notesMaster" Target="/ppt/notesMasters/notesMaster1.xml" Id="R57becc751f544f4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59c891398684c8a" /><Relationship Type="http://schemas.openxmlformats.org/officeDocument/2006/relationships/notesMaster" Target="/ppt/notesMasters/notesMaster1.xml" Id="R1c3cf3f04f23489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c57deaed67a475e" /><Relationship Type="http://schemas.openxmlformats.org/officeDocument/2006/relationships/notesMaster" Target="/ppt/notesMasters/notesMaster1.xml" Id="R7b8cf35261234f2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efe8ccc78e945e8" /><Relationship Type="http://schemas.openxmlformats.org/officeDocument/2006/relationships/notesMaster" Target="/ppt/notesMasters/notesMaster1.xml" Id="R3e0158255ea04f2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aa05fa7a7d340c6" /><Relationship Type="http://schemas.openxmlformats.org/officeDocument/2006/relationships/notesMaster" Target="/ppt/notesMasters/notesMaster1.xml" Id="R28b27c0743ba418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2d7a025cd0489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329e0d13d14c2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8c047ad81245f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388e410e024ab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7c93ebf05f4e7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988e7e753b426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5b5983ade24f5a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efcfbb34244300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86c45974324c9f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b0bc13aa4448c6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0a6d7eb5924436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C8EE6D2-40D2-4E47-BDDC-55989314662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C325B61-3EE4-47A3-8860-E6C2DD7D2DC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FDE0030-376B-438F-B928-42E2376EF4B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527738-92B4-4C3D-B659-28CBFAAD158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98831B-DDAD-4F7B-A9B3-51FAC304F93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EBF1E10-A186-41A4-A23F-6F68742B09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0841FC7-3D22-476F-AF7C-9FB4909ED25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71FBEDC-E693-4FAC-BFCB-20D91D89F26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60FF0B4-8AB3-42EF-88AC-7650D223362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ECF8FF2-B00F-4952-A952-1060524D1B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4CC4FC8-054C-46FA-9F5E-671BEAFB1F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3679F61-CA24-434F-9A81-BBC31BC9AB9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70F19B6-4767-4294-8F80-AD710758648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6FA2E2E-5147-42F5-9FC3-989D733677C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03A9D61-556A-4B5E-AE71-CA82E2A00AE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45BBCCF-2BF2-4A8F-8FC9-D86B2B2286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A1F04B1-B7C0-49E5-9614-DE622B5474C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87926966-5F54-476A-9D2F-1D214219347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27F3500-2B19-4EFD-88C8-6D94EC91CD6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D30205F7-62B0-45A2-89C8-A5D3261E3E7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EE0009A-E28D-4E2F-A39A-39F9BC9186E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1A78809-2F35-4D75-AC0F-2664EA7925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A3B82C3-5888-4B7E-97B4-4727DCA2AD8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535A208-2CF4-407D-8379-56EAF1B0CFC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9DA71C27-1677-4BA9-8A50-2245165646D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82BF69EF-ABAF-4DBE-A312-9C53017582BE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C2FA1B63-DF9C-4930-9D64-45B9739B5AA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92D69ECF-184F-4292-B17B-56099E6698E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36878462-CD7E-46D5-B6BC-B873510BD4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2E4B1AA-6C88-4B21-AB78-BF9077119F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7A6F8975-048C-477C-81A5-7A8FF42FEB2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FE407567-3D5E-40C4-BDC8-F42884103D2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D9CE6072-D398-44DC-B698-DDE8FAE1C11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0C03C7F1-82E0-4DD3-A98E-A2A48A2A0AB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7CB55BF3-B600-4F11-B3A3-CD3372EAACE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C5A6493E-5A02-4005-A519-1487E9DF4E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705B74B-F2CA-4915-9641-FFCBF482C2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A46477A-BA84-44D9-90AF-0AB5E8F1CA0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C25CA9A5-B454-45C1-8CF8-6491E40125E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99A70CC-CF16-4375-A558-8DFA19A9171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2709D07-D0F4-48CA-A616-70B147027C5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D033083-AD38-4274-A89D-90BC49BBDBF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8000AA5-4AE2-4F0C-8700-E9E4084DC9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343FA7AF-A765-449C-BDA7-D9F4E9CF5F6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2E80FEB-C09A-4BDF-95A7-7866B95874F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A49BDF7-0A9B-4EA4-9999-8FB5DF88DC7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E0CCA54-79A0-4EC1-8405-9B63E430963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31D9D0B-337B-436B-8964-DF0B6908EE9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36B7513-510F-4F84-9E20-680C5D51F9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AD90B3EC-F342-416A-9A6B-8BE2EF15F17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755B290-9A3A-440E-8465-A2C7054FDB8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2A33B1C-6C02-4567-B961-012F091ED08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D56103A-178D-4C2D-9133-8CB569304A1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AD038E5A-12D2-41AE-8E0C-66F045ECF5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30A91497-1456-4314-B1BD-E9CCEFC915D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D070B7C-198B-47D7-826C-3BB2570FC2A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2421C83-66BE-44EB-A720-F9C3E221D81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FE30F28-7BB9-4AF3-98EA-53FBC51841A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744e4c6ea534ef3" /><Relationship Type="http://schemas.openxmlformats.org/officeDocument/2006/relationships/slideLayout" Target="/ppt/slideLayouts/slideLayout1.xml" Id="Rd3988ecbb9b147f0" /><Relationship Type="http://schemas.openxmlformats.org/officeDocument/2006/relationships/slideLayout" Target="/ppt/slideLayouts/slideLayout2.xml" Id="R5b625e55a65547e6" /><Relationship Type="http://schemas.openxmlformats.org/officeDocument/2006/relationships/slideLayout" Target="/ppt/slideLayouts/slideLayout3.xml" Id="Re48b4672fca0482f" /><Relationship Type="http://schemas.openxmlformats.org/officeDocument/2006/relationships/slideLayout" Target="/ppt/slideLayouts/slideLayout4.xml" Id="R52612fe423464a47" /><Relationship Type="http://schemas.openxmlformats.org/officeDocument/2006/relationships/slideLayout" Target="/ppt/slideLayouts/slideLayout5.xml" Id="R59738c27377f49a0" /><Relationship Type="http://schemas.openxmlformats.org/officeDocument/2006/relationships/slideLayout" Target="/ppt/slideLayouts/slideLayout6.xml" Id="R21e3a3435cc24348" /><Relationship Type="http://schemas.openxmlformats.org/officeDocument/2006/relationships/slideLayout" Target="/ppt/slideLayouts/slideLayout7.xml" Id="R372f8544632c4113" /><Relationship Type="http://schemas.openxmlformats.org/officeDocument/2006/relationships/slideLayout" Target="/ppt/slideLayouts/slideLayout8.xml" Id="R7231248e2f934782" /><Relationship Type="http://schemas.openxmlformats.org/officeDocument/2006/relationships/slideLayout" Target="/ppt/slideLayouts/slideLayout9.xml" Id="R558631dcda744e42" /><Relationship Type="http://schemas.openxmlformats.org/officeDocument/2006/relationships/slideLayout" Target="/ppt/slideLayouts/slideLayout10.xml" Id="R01990bad957e4c2f" /><Relationship Type="http://schemas.openxmlformats.org/officeDocument/2006/relationships/slideLayout" Target="/ppt/slideLayouts/slideLayout11.xml" Id="R7b5cb2635eb44d40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402A3FF0-EE08-4431-974C-6288F7D517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4AD5B79-004D-4119-ACD6-F367237A48C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C08E2BD-EC9E-42D2-93F3-CC4DCA57BDBD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4C3859F-46FD-4127-86BA-4C1CE6628B1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5FD2A00-3F33-454A-B11A-633327AD6AA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3988ecbb9b147f0"/>
    <p:sldLayoutId xmlns:r="http://schemas.openxmlformats.org/officeDocument/2006/relationships" id="2147483650" r:id="R5b625e55a65547e6"/>
    <p:sldLayoutId xmlns:r="http://schemas.openxmlformats.org/officeDocument/2006/relationships" id="2147483651" r:id="Re48b4672fca0482f"/>
    <p:sldLayoutId xmlns:r="http://schemas.openxmlformats.org/officeDocument/2006/relationships" id="2147483652" r:id="R52612fe423464a47"/>
    <p:sldLayoutId xmlns:r="http://schemas.openxmlformats.org/officeDocument/2006/relationships" id="2147483653" r:id="R59738c27377f49a0"/>
    <p:sldLayoutId xmlns:r="http://schemas.openxmlformats.org/officeDocument/2006/relationships" id="2147483654" r:id="R21e3a3435cc24348"/>
    <p:sldLayoutId xmlns:r="http://schemas.openxmlformats.org/officeDocument/2006/relationships" id="2147483655" r:id="R372f8544632c4113"/>
    <p:sldLayoutId xmlns:r="http://schemas.openxmlformats.org/officeDocument/2006/relationships" id="2147483656" r:id="R7231248e2f934782"/>
    <p:sldLayoutId xmlns:r="http://schemas.openxmlformats.org/officeDocument/2006/relationships" id="2147483657" r:id="R558631dcda744e42"/>
    <p:sldLayoutId xmlns:r="http://schemas.openxmlformats.org/officeDocument/2006/relationships" id="2147483658" r:id="R01990bad957e4c2f"/>
    <p:sldLayoutId xmlns:r="http://schemas.openxmlformats.org/officeDocument/2006/relationships" id="2147483659" r:id="R7b5cb2635eb44d40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23f40cef4a64359" /><Relationship Type="http://schemas.openxmlformats.org/officeDocument/2006/relationships/image" Target="/ppt/media/image.jpeg" Id="R931c76b93fc9445c" /><Relationship Type="http://schemas.openxmlformats.org/officeDocument/2006/relationships/notesSlide" Target="/ppt/notesSlides/notesSlide1.xml" Id="R58e6ea0f969a4b3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3d7c5b0fafc4d4a" /><Relationship Type="http://schemas.openxmlformats.org/officeDocument/2006/relationships/notesSlide" Target="/ppt/notesSlides/notesSlide2.xml" Id="R0811fe958ff04b6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1e748b5a4bf4b7a" /><Relationship Type="http://schemas.openxmlformats.org/officeDocument/2006/relationships/image" Target="/ppt/media/image.jpeg" Id="R3285fbb9538c4905" /><Relationship Type="http://schemas.openxmlformats.org/officeDocument/2006/relationships/image" Target="/ppt/media/image2.jpeg" Id="Ra572d754dd5a4cd8" /><Relationship Type="http://schemas.openxmlformats.org/officeDocument/2006/relationships/image" Target="/ppt/media/image3.jpeg" Id="Rddb735d34e5a4fe8" /><Relationship Type="http://schemas.openxmlformats.org/officeDocument/2006/relationships/notesSlide" Target="/ppt/notesSlides/notesSlide3.xml" Id="Rb2bde0e0f607495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f5f9112bb7340dd" /><Relationship Type="http://schemas.openxmlformats.org/officeDocument/2006/relationships/notesSlide" Target="/ppt/notesSlides/notesSlide4.xml" Id="R50c769f886a0408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002a076906c453d" /><Relationship Type="http://schemas.openxmlformats.org/officeDocument/2006/relationships/image" Target="/ppt/media/image3.jpeg" Id="Rea222844ce0e4ff6" /><Relationship Type="http://schemas.openxmlformats.org/officeDocument/2006/relationships/notesSlide" Target="/ppt/notesSlides/notesSlide5.xml" Id="R32ab19b0ed394d8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ddadb90458f4b86" /><Relationship Type="http://schemas.openxmlformats.org/officeDocument/2006/relationships/image" Target="/ppt/media/image2.jpeg" Id="Rfedaccef77be4b62" /><Relationship Type="http://schemas.openxmlformats.org/officeDocument/2006/relationships/notesSlide" Target="/ppt/notesSlides/notesSlide6.xml" Id="R03f0da611600447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9640AE8-20A4-42D3-B3BD-A1AF66835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391D723-9E8C-4A68-9F13-0DFB66B03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40664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92E0A38-1D69-431C-951D-B8C1DD75B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5CB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C237DAC-76E5-4A4C-B8E7-FE5D52084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234440"/>
            <a:ext cx="6309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000" b="1">
                <a:solidFill>
                  <a:srgbClr val="7C5CB8"/>
                </a:solidFill>
                <a:latin typeface="微软雅黑"/>
                <a:ea typeface="微软雅黑"/>
                <a:cs typeface="微软雅黑"/>
              </a:rPr>
              <a:t>参赛作品简介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18CD7EA-00A8-48DF-9FE6-B90FCE1E7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83080"/>
            <a:ext cx="630936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54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塔罗灵感牌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F231A6F1-47F5-4F70-B978-D5BCC5155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880360"/>
            <a:ext cx="6309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7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全离线 · 灵感反思与情绪整理工具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25997ED0-0225-4050-AF13-332C4D9EE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520440"/>
            <a:ext cx="502920" cy="411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5CB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E936B82E-7CF4-4B13-B959-7E1A8FB63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886200"/>
            <a:ext cx="2194560" cy="475488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7C5CB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7F6B380B-2032-4DF3-963E-20E446062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995928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自我成长 / 情绪管理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E2B687D8-E1F4-42A6-BCFA-17634AD85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892040"/>
            <a:ext cx="6309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5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常新队 · 队长：易荛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7401A0B-8CE8-421E-803F-B0C29287F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321808"/>
            <a:ext cx="6309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2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湘潭理工学院 · 信息与计算科学 · 指导老师：徐畅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D4230944-33F0-419C-8550-A3E195F0A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687568"/>
            <a:ext cx="6309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2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HarmonyOS · ArkTS / ArkUI · 2026年8月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68EC2C10-D25D-4426-A3ED-2986ABAF7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694944"/>
            <a:ext cx="2706624" cy="554653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7C5CB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1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1c76b93fc9445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75320" y="841248"/>
            <a:ext cx="2395728" cy="5253922"/>
          </a:xfrm>
          <a:prstGeom xmlns:a="http://schemas.openxmlformats.org/drawingml/2006/main" prst="roundRect">
            <a:avLst>
              <a:gd name="adj" fmla="val 6361"/>
            </a:avLst>
          </a:prstGeom>
        </p:spPr>
      </p:pic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C05FDEFC-FD23-481A-AF2F-47F54FB2B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6479218"/>
            <a:ext cx="303580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DevEco Studio 模拟器实测</a:t>
            </a:r>
          </a:p>
        </p:txBody>
      </p:sp>
    </p:spTree>
    <p:extLst>
      <p:ext uri="{BB962C8B-B14F-4D97-AF65-F5344CB8AC3E}">
        <p14:creationId xmlns:p14="http://schemas.microsoft.com/office/powerpoint/2010/main" val="81358615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553EF82-DE99-4BD2-A3C9-85A70EDF4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109728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5CB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81690D2-6604-4FD1-A7ED-E6699AA26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47472"/>
            <a:ext cx="8229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6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作品概述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D437F84-174D-4C43-AC8E-C491EDD0C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475488"/>
            <a:ext cx="2331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1300" b="1">
                <a:solidFill>
                  <a:srgbClr val="7C5CB8"/>
                </a:solidFill>
                <a:latin typeface="微软雅黑"/>
                <a:ea typeface="微软雅黑"/>
                <a:cs typeface="微软雅黑"/>
              </a:rPr>
              <a:t>塔罗灵感牌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104D1E2-BC92-4363-99D1-4C65202D7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7" y="960120"/>
            <a:ext cx="11155680" cy="146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DB935E4-FCCF-4EFF-B408-C60C1C421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473952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2 / 6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9C69D90-A313-423E-A591-CD886883C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325880"/>
            <a:ext cx="5120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>
                <a:solidFill>
                  <a:srgbClr val="7C5CB8"/>
                </a:solidFill>
                <a:latin typeface="微软雅黑"/>
                <a:ea typeface="微软雅黑"/>
                <a:cs typeface="微软雅黑"/>
              </a:rPr>
              <a:t>创作背景与定位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A1C8F03-A256-4B15-9FE6-524CF4839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83080"/>
            <a:ext cx="5120640" cy="2103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</a:pPr>
            <a:r>
              <a:rPr sz="13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市面塔罗类应用普遍需联网、含广告、有隐私泄露风险。我们做了一款完全离线的灵感反思工具，不做迷信预测，定位为情绪整理与思考方向启发。根据问题分类、情绪、牌位、正逆位等多维度生成结构化解读，内置安全过滤机制软化焦虑内容。78张牌库配双套原创艺术主题，仅申请振动权限。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7E98355-569F-4F59-BC5B-BD1107981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069080"/>
            <a:ext cx="5120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>
                <a:solidFill>
                  <a:srgbClr val="7C5CB8"/>
                </a:solidFill>
                <a:latin typeface="微软雅黑"/>
                <a:ea typeface="微软雅黑"/>
                <a:cs typeface="微软雅黑"/>
              </a:rPr>
              <a:t>目标用户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BAF2452-EE51-450A-AD5D-D5D94319D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498848"/>
            <a:ext cx="51206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13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18-35岁关注自我成长与情绪管理的年轻群体，塔罗/心理自助赛道持续增长，社交媒体传播性强。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0B9BC3D4-59D7-4A32-8AE9-8A440E71C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440680"/>
            <a:ext cx="5120640" cy="77724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5F2FC"/>
          </a:solidFill>
          <a:ln xmlns:a="http://schemas.openxmlformats.org/drawingml/2006/main" w="9525">
            <a:solidFill>
              <a:srgbClr val="BCA7E9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42871214-EB6E-4367-85CB-05714A92A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596128"/>
            <a:ext cx="46634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1350" b="1">
                <a:solidFill>
                  <a:srgbClr val="7C5CB8"/>
                </a:solidFill>
                <a:latin typeface="微软雅黑"/>
                <a:ea typeface="微软雅黑"/>
                <a:cs typeface="微软雅黑"/>
              </a:rPr>
              <a:t>「 全离线的塔罗灵感反思工具，多维度个性化解读+安全过滤，用象征语言整理情绪。 」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79BF01DE-8237-457E-8A8A-12384763E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325880"/>
            <a:ext cx="5120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>
                <a:solidFill>
                  <a:srgbClr val="7C5CB8"/>
                </a:solidFill>
                <a:latin typeface="微软雅黑"/>
                <a:ea typeface="微软雅黑"/>
                <a:cs typeface="微软雅黑"/>
              </a:rPr>
              <a:t>技术架构一览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534EAFFB-455E-4C51-9BED-A80DDB159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783080"/>
            <a:ext cx="5230368" cy="82296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1A95C6F1-C727-46A1-978F-65967BADF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1938528"/>
            <a:ext cx="4800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sz="12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Stage模型 + RDB关系型数据库 + SoundPool/vibrator多感反馈 + 小艺智能体可选接入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8DFCFF0B-E027-46AA-A73D-ACFE5364A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880360"/>
            <a:ext cx="1371600" cy="402336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7C5CB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D670A25E-DDF9-4865-9C32-9534E0018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962656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开发框架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2744990D-B60C-41DB-A9EF-B3A01B288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2880360"/>
            <a:ext cx="3767328" cy="402336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12A82B0A-E093-466A-85BB-08E70496C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2962656"/>
            <a:ext cx="3474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HarmonyOS ArkTS / ArkUI 声明式开发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67CF3F9F-E38A-4874-8EFE-2F84C8528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3447288"/>
            <a:ext cx="1371600" cy="402336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7C5CB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7C1A0751-AA0B-4C5F-8863-835A6623C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3529584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API 基线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4EA38A93-F6E3-4F0D-8366-F703AF466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3447288"/>
            <a:ext cx="3767328" cy="402336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7CB8EE3D-7A0A-4664-805F-B80D1B43F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3529584"/>
            <a:ext cx="3474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HarmonyOS API 24（6.1.1）</a:t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AA958983-BF2F-48FD-B821-70611BCF7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4014215"/>
            <a:ext cx="1371600" cy="402336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7C5CB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A6577672-65D6-475A-B397-5A2155252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4096511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设备适配</a:t>
            </a:r>
          </a:p>
        </p:txBody>
      </p:sp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02E4C7E0-D474-4492-9103-FDD2D156E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4014215"/>
            <a:ext cx="3767328" cy="402336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B0D484DC-34F5-4876-99F6-65259962A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4096511"/>
            <a:ext cx="3474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手机 / 平板 / 2in1 一多适配</a:t>
            </a:r>
          </a:p>
        </p:txBody>
      </p:sp>
      <p:sp>
        <p:nvSpPr>
          <p:cNvPr id="28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98C01369-DF44-4BDD-9D28-0B5147AAA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4581144"/>
            <a:ext cx="1371600" cy="402336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7C5CB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53A3AA99-4FD8-47FC-8AD6-23EFE1DA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466344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隐私安全</a:t>
            </a:r>
          </a:p>
        </p:txBody>
      </p:sp>
      <p:sp>
        <p:nvSpPr>
          <p:cNvPr id="30" name="Rounded Rectangle 29">
            <a:extLst xmlns:a="http://schemas.openxmlformats.org/drawingml/2006/main">
              <a:ext uri="{FF2B5EF4-FFF2-40B4-BE49-F238E27FC236}">
                <a16:creationId xmlns:a16="http://schemas.microsoft.com/office/drawing/2014/main" id="{38AA7EE9-C2E5-4673-A7A1-0F077B5EA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4581144"/>
            <a:ext cx="3767328" cy="402336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CE4ACBDB-0870-4BA2-B3B8-A02ECDC60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4663440"/>
            <a:ext cx="3474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全离线运行，最小化权限申请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8303FF67-259E-4E4A-8739-C79D9D7D5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5349240"/>
            <a:ext cx="523036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>
                <a:solidFill>
                  <a:srgbClr val="7C5CB8"/>
                </a:solidFill>
                <a:latin typeface="微软雅黑"/>
                <a:ea typeface="微软雅黑"/>
                <a:cs typeface="微软雅黑"/>
              </a:rPr>
              <a:t>特性关键词</a:t>
            </a:r>
          </a:p>
        </p:txBody>
      </p:sp>
      <p:sp>
        <p:nvSpPr>
          <p:cNvPr id="33" name="Rounded Rectangle 32">
            <a:extLst xmlns:a="http://schemas.openxmlformats.org/drawingml/2006/main">
              <a:ext uri="{FF2B5EF4-FFF2-40B4-BE49-F238E27FC236}">
                <a16:creationId xmlns:a16="http://schemas.microsoft.com/office/drawing/2014/main" id="{B7EAF8B5-3D00-4E1B-939F-58FD366DF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779008"/>
            <a:ext cx="746150" cy="36576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7C5CB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9669F9DA-5354-4194-AE6A-2E428C4EC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847588"/>
            <a:ext cx="74615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全离线</a:t>
            </a:r>
          </a:p>
        </p:txBody>
      </p:sp>
      <p:sp>
        <p:nvSpPr>
          <p:cNvPr id="35" name="Rounded Rectangle 34">
            <a:extLst xmlns:a="http://schemas.openxmlformats.org/drawingml/2006/main">
              <a:ext uri="{FF2B5EF4-FFF2-40B4-BE49-F238E27FC236}">
                <a16:creationId xmlns:a16="http://schemas.microsoft.com/office/drawing/2014/main" id="{FD7EC68F-15E7-40FA-8B93-3D286B483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6678" y="5779008"/>
            <a:ext cx="1217980" cy="36576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7C5CB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CB6C1EA2-3EC5-4536-9EAB-7FDB22E28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6678" y="5847588"/>
            <a:ext cx="1217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安全内容过滤</a:t>
            </a:r>
          </a:p>
        </p:txBody>
      </p:sp>
      <p:sp>
        <p:nvSpPr>
          <p:cNvPr id="37" name="Rounded Rectangle 36">
            <a:extLst xmlns:a="http://schemas.openxmlformats.org/drawingml/2006/main">
              <a:ext uri="{FF2B5EF4-FFF2-40B4-BE49-F238E27FC236}">
                <a16:creationId xmlns:a16="http://schemas.microsoft.com/office/drawing/2014/main" id="{DB4F5606-31D5-4101-8CE7-29B2E2E5D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4387" y="5779008"/>
            <a:ext cx="1060704" cy="36576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7C5CB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29E99740-AEA3-4A95-BA48-32BB48636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4387" y="5847588"/>
            <a:ext cx="106070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双主题牌库</a:t>
            </a:r>
          </a:p>
        </p:txBody>
      </p:sp>
      <p:sp>
        <p:nvSpPr>
          <p:cNvPr id="39" name="Rounded Rectangle 38">
            <a:extLst xmlns:a="http://schemas.openxmlformats.org/drawingml/2006/main">
              <a:ext uri="{FF2B5EF4-FFF2-40B4-BE49-F238E27FC236}">
                <a16:creationId xmlns:a16="http://schemas.microsoft.com/office/drawing/2014/main" id="{2E830E13-CC13-4317-BB16-D88D1B976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4819" y="5779008"/>
            <a:ext cx="903427" cy="36576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7C5CB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F241F0E7-7E8B-44F1-89D2-CB1E56CA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4819" y="5847588"/>
            <a:ext cx="903427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最小权限</a:t>
            </a:r>
          </a:p>
        </p:txBody>
      </p:sp>
    </p:spTree>
    <p:extLst>
      <p:ext uri="{BB962C8B-B14F-4D97-AF65-F5344CB8AC3E}">
        <p14:creationId xmlns:p14="http://schemas.microsoft.com/office/powerpoint/2010/main" val="71467811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5EABC4E-3F25-46A0-BC8D-7762492A6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109728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5CB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8439389-A548-48EA-9994-BCB2AF9F1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47472"/>
            <a:ext cx="8229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6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核心功能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9F98421-C6DE-4914-B06C-857732FFC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475488"/>
            <a:ext cx="2331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1300" b="1">
                <a:solidFill>
                  <a:srgbClr val="7C5CB8"/>
                </a:solidFill>
                <a:latin typeface="微软雅黑"/>
                <a:ea typeface="微软雅黑"/>
                <a:cs typeface="微软雅黑"/>
              </a:rPr>
              <a:t>塔罗灵感牌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7DBD0E1-D738-443E-886C-603D19BD4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7" y="960120"/>
            <a:ext cx="11155680" cy="146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2B4B0E1-043D-4DFA-8858-BBFF89080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473952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3 / 6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3E791D19-415C-4660-BF68-B39B858B0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325880"/>
            <a:ext cx="5623560" cy="4983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200"/>
              </a:spcAft>
              <a:buNone/>
            </a:pPr>
            <a:r>
              <a:rPr sz="1300" b="1">
                <a:solidFill>
                  <a:srgbClr val="7C5CB8"/>
                </a:solidFill>
                <a:latin typeface="微软雅黑"/>
                <a:ea typeface="微软雅黑"/>
                <a:cs typeface="微软雅黑"/>
              </a:rPr>
              <a:t>① 6种牌阵模式</a:t>
            </a:r>
          </a:p>
          <a:p xmlns:a="http://schemas.openxmlformats.org/drawingml/2006/main">
            <a:pPr marL="238125" indent="0">
              <a:lnSpc>
                <a:spcPct val="112000"/>
              </a:lnSpc>
              <a:spcAft>
                <a:spcPts val="800"/>
              </a:spcAft>
              <a:buNone/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单牌抽取、三牌阵（过去/现在/下一步）、每日灵感、时间线牌阵、关系牌阵、七牌阵，从轻度到深度反思全覆盖。</a:t>
            </a:r>
          </a:p>
          <a:p xmlns:a="http://schemas.openxmlformats.org/drawingml/2006/main">
            <a:pPr>
              <a:spcAft>
                <a:spcPts val="200"/>
              </a:spcAft>
              <a:buNone/>
            </a:pPr>
            <a:r>
              <a:rPr sz="1300" b="1">
                <a:solidFill>
                  <a:srgbClr val="7C5CB8"/>
                </a:solidFill>
                <a:latin typeface="微软雅黑"/>
                <a:ea typeface="微软雅黑"/>
                <a:cs typeface="微软雅黑"/>
              </a:rPr>
              <a:t>② 多维度个性化解读</a:t>
            </a:r>
          </a:p>
          <a:p xmlns:a="http://schemas.openxmlformats.org/drawingml/2006/main">
            <a:pPr marL="238125" indent="0">
              <a:lnSpc>
                <a:spcPct val="112000"/>
              </a:lnSpc>
              <a:spcAft>
                <a:spcPts val="800"/>
              </a:spcAft>
              <a:buNone/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根据问题文本、问题分类（学业/事业/感情/社交/成长/日常）、情绪状态、牌位、正逆位、近期主题六维度生成结构化解读。</a:t>
            </a:r>
          </a:p>
          <a:p xmlns:a="http://schemas.openxmlformats.org/drawingml/2006/main">
            <a:pPr>
              <a:spcAft>
                <a:spcPts val="200"/>
              </a:spcAft>
              <a:buNone/>
            </a:pPr>
            <a:r>
              <a:rPr sz="1300" b="1">
                <a:solidFill>
                  <a:srgbClr val="7C5CB8"/>
                </a:solidFill>
                <a:latin typeface="微软雅黑"/>
                <a:ea typeface="微软雅黑"/>
                <a:cs typeface="微软雅黑"/>
              </a:rPr>
              <a:t>③ 78张牌库+双艺术主题</a:t>
            </a:r>
          </a:p>
          <a:p xmlns:a="http://schemas.openxmlformats.org/drawingml/2006/main">
            <a:pPr marL="238125" indent="0">
              <a:lnSpc>
                <a:spcPct val="112000"/>
              </a:lnSpc>
              <a:spcAft>
                <a:spcPts val="800"/>
              </a:spcAft>
              <a:buNone/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22张大阿卡纳+56张小阿卡纳（权杖/圣杯/宝剑/星币），“月影花庭”与“鎏星穹庭”两套原创牌面。</a:t>
            </a:r>
          </a:p>
          <a:p xmlns:a="http://schemas.openxmlformats.org/drawingml/2006/main">
            <a:pPr>
              <a:spcAft>
                <a:spcPts val="200"/>
              </a:spcAft>
              <a:buNone/>
            </a:pPr>
            <a:r>
              <a:rPr sz="1300" b="1">
                <a:solidFill>
                  <a:srgbClr val="7C5CB8"/>
                </a:solidFill>
                <a:latin typeface="微软雅黑"/>
                <a:ea typeface="微软雅黑"/>
                <a:cs typeface="微软雅黑"/>
              </a:rPr>
              <a:t>▪ 安全内容过滤机制</a:t>
            </a:r>
          </a:p>
          <a:p xmlns:a="http://schemas.openxmlformats.org/drawingml/2006/main">
            <a:pPr marL="238125" indent="0">
              <a:lnSpc>
                <a:spcPct val="112000"/>
              </a:lnSpc>
              <a:spcAft>
                <a:spcPts val="800"/>
              </a:spcAft>
              <a:buNone/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内置过滤器自动识别并软化可能引起焦虑的解读内容，保护用户心理安全，同类应用无此设计。</a:t>
            </a:r>
          </a:p>
          <a:p xmlns:a="http://schemas.openxmlformats.org/drawingml/2006/main">
            <a:pPr>
              <a:spcAft>
                <a:spcPts val="200"/>
              </a:spcAft>
              <a:buNone/>
            </a:pPr>
            <a:r>
              <a:rPr sz="1300" b="1">
                <a:solidFill>
                  <a:srgbClr val="7C5CB8"/>
                </a:solidFill>
                <a:latin typeface="微软雅黑"/>
                <a:ea typeface="微软雅黑"/>
                <a:cs typeface="微软雅黑"/>
              </a:rPr>
              <a:t>▪ 历史/收藏/笔记系统</a:t>
            </a:r>
          </a:p>
          <a:p xmlns:a="http://schemas.openxmlformats.org/drawingml/2006/main">
            <a:pPr marL="238125" indent="0">
              <a:lnSpc>
                <a:spcPct val="112000"/>
              </a:lnSpc>
              <a:spcAft>
                <a:spcPts val="800"/>
              </a:spcAft>
              <a:buNone/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本地RDB保存解读记录，支持收藏和每张牌的个人感悟笔记，Preferences存储用户偏好设置。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D33D65F9-BE11-4F13-A405-317620E3E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1234440"/>
            <a:ext cx="5029200" cy="493776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8F9F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CF03E8A1-049F-4072-A934-7B5B268D7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1389888"/>
            <a:ext cx="23774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00" b="1">
                <a:solidFill>
                  <a:srgbClr val="7C5CB8"/>
                </a:solidFill>
                <a:latin typeface="微软雅黑"/>
                <a:ea typeface="微软雅黑"/>
                <a:cs typeface="微软雅黑"/>
              </a:rPr>
              <a:t>实机运行效果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FBF24A9-34B7-4350-A331-1BD40F5E7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417320"/>
            <a:ext cx="2331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DevEco Studio 模拟器</a:t>
            </a:r>
          </a:p>
        </p:txBody>
      </p:sp>
      <p:pic>
        <p:nvPicPr>
          <p:cNvPr id="36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85fbb9538c49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67728" y="1828800"/>
            <a:ext cx="1481328" cy="3248608"/>
          </a:xfrm>
          <a:prstGeom xmlns:a="http://schemas.openxmlformats.org/drawingml/2006/main" prst="roundRect">
            <a:avLst>
              <a:gd name="adj" fmla="val 10288"/>
            </a:avLst>
          </a:prstGeom>
        </p:spPr>
      </p:pic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286A3BE7-8993-434F-AD3E-49FB9D0F2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3448" y="1709928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5CB8"/>
          </a:solidFill>
          <a:ln xmlns:a="http://schemas.openxmlformats.org/drawingml/2006/main" w="19050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3E7D3B79-9412-4CD1-B62D-3C6E19CF4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2864" y="5205424"/>
            <a:ext cx="1591056" cy="310896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7C5CB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1A38829C-4745-4967-9EFA-5C1C5B832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2864" y="5264860"/>
            <a:ext cx="15910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首页·今日一张</a:t>
            </a:r>
          </a:p>
        </p:txBody>
      </p:sp>
      <p:pic>
        <p:nvPicPr>
          <p:cNvPr id="40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72d754dd5a4cd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86216" y="1828800"/>
            <a:ext cx="1481328" cy="3248608"/>
          </a:xfrm>
          <a:prstGeom xmlns:a="http://schemas.openxmlformats.org/drawingml/2006/main" prst="roundRect">
            <a:avLst>
              <a:gd name="adj" fmla="val 10288"/>
            </a:avLst>
          </a:prstGeom>
        </p:spPr>
      </p:pic>
      <p:sp>
        <p:nvSpPr>
          <p:cNvPr id="16" name="Oval 15">
            <a:extLst xmlns:a="http://schemas.openxmlformats.org/drawingml/2006/main">
              <a:ext uri="{FF2B5EF4-FFF2-40B4-BE49-F238E27FC236}">
                <a16:creationId xmlns:a16="http://schemas.microsoft.com/office/drawing/2014/main" id="{F0DC0034-9E31-4443-9790-84C6E6A47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1936" y="1709928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5CB8"/>
          </a:solidFill>
          <a:ln xmlns:a="http://schemas.openxmlformats.org/drawingml/2006/main" w="19050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655C62D1-3B02-460E-B639-C9BC09BCA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1352" y="5205424"/>
            <a:ext cx="1591056" cy="310896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7C5CB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8D98417F-3FE5-4A0F-874B-CE0846F3E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1352" y="5264860"/>
            <a:ext cx="15910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抽取·问题与场景配置</a:t>
            </a:r>
          </a:p>
        </p:txBody>
      </p:sp>
      <p:pic>
        <p:nvPicPr>
          <p:cNvPr id="44" name="Pictur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b735d34e5a4fe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04704" y="1828800"/>
            <a:ext cx="1481328" cy="3248608"/>
          </a:xfrm>
          <a:prstGeom xmlns:a="http://schemas.openxmlformats.org/drawingml/2006/main" prst="roundRect">
            <a:avLst>
              <a:gd name="adj" fmla="val 10288"/>
            </a:avLst>
          </a:prstGeom>
        </p:spPr>
      </p:pic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C94E000D-4E51-4088-BAEC-B68CA1DB4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0424" y="1709928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5CB8"/>
          </a:solidFill>
          <a:ln xmlns:a="http://schemas.openxmlformats.org/drawingml/2006/main" w="19050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0899424C-83FA-4749-8B67-B25E7D8C4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0" y="5205424"/>
            <a:ext cx="1591056" cy="310896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7C5CB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3E2975C6-0424-475E-AB06-D69759B11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0" y="5264860"/>
            <a:ext cx="15910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卡片库·78张灵感卡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E66E6FD1-1648-4409-A6E5-6293367A4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5742432"/>
            <a:ext cx="4754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※ 编号与左侧功能点一一对应，均为真实运行界面</a:t>
            </a:r>
          </a:p>
        </p:txBody>
      </p:sp>
    </p:spTree>
    <p:extLst>
      <p:ext uri="{BB962C8B-B14F-4D97-AF65-F5344CB8AC3E}">
        <p14:creationId xmlns:p14="http://schemas.microsoft.com/office/powerpoint/2010/main" val="175963056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E0F23C8-D952-4C9C-A6C4-55624F2CD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109728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5CB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99222D0-AFE9-45E1-9600-7147DE225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47472"/>
            <a:ext cx="8229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6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技术实现与鸿蒙特性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4E97505-3475-4E43-A194-1E1A8D124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475488"/>
            <a:ext cx="2331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1300" b="1">
                <a:solidFill>
                  <a:srgbClr val="7C5CB8"/>
                </a:solidFill>
                <a:latin typeface="微软雅黑"/>
                <a:ea typeface="微软雅黑"/>
                <a:cs typeface="微软雅黑"/>
              </a:rPr>
              <a:t>塔罗灵感牌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5478D62-7580-4A50-A673-24F360532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7" y="960120"/>
            <a:ext cx="11155680" cy="146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11FC8F3-A9C7-4955-B8FA-DD3703CD8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473952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4 / 6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FFE4DBEC-B637-4A77-9375-C3B0C6D5E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280160"/>
            <a:ext cx="5486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>
                <a:solidFill>
                  <a:srgbClr val="7C5CB8"/>
                </a:solidFill>
                <a:latin typeface="微软雅黑"/>
                <a:ea typeface="微软雅黑"/>
                <a:cs typeface="微软雅黑"/>
              </a:rPr>
              <a:t>鸿蒙原生能力应用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9ADF6892-B771-405C-AF71-15BBB0ABA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19656"/>
            <a:ext cx="82296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5CB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1563C0F-83BC-48E9-8F50-86A58A39F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737360"/>
            <a:ext cx="521208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</a:pPr>
            <a:r>
              <a:rPr sz="12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HarmonyOS Stage模型+ArkUI声明式框架，Preferences+RDB关系型数据库实现历史/收藏/笔记持久化。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8BA44A60-7257-4BB5-B187-D1309948F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898648"/>
            <a:ext cx="82296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5CB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8C39598A-09CE-4046-95D3-C78FF0A7C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816352"/>
            <a:ext cx="521208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</a:pPr>
            <a:r>
              <a:rPr sz="12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SoundPool低延迟音效+vibrator振动反馈，双套牌面主题资源管理实现一键切换。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3CB23004-CE8B-48F1-A3FE-946D154E7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977639"/>
            <a:ext cx="82296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5CB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00F33A28-BB96-4CB2-AD99-9D22EA067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895344"/>
            <a:ext cx="521208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</a:pPr>
            <a:r>
              <a:rPr sz="12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可选对接华为小艺智能体增强解读（不可用时回退本地），利用鸿蒙AI能力拓展体验。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DE3C702E-201C-440E-8CDA-0DE229AA9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056631"/>
            <a:ext cx="82296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5CB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75FFAB7B-5134-4191-86C3-14DA7D282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974336"/>
            <a:ext cx="521208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</a:pPr>
            <a:r>
              <a:rPr sz="12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适配手机+平板设备形态，仅申请VIBRATE一项权限，符合最小权限原则。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A4095273-A6F4-42AE-B25F-4F3AF4DF6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1737360"/>
            <a:ext cx="4983480" cy="246888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356F9003-8AD1-49BD-8954-CBAB1992B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1920240"/>
            <a:ext cx="44348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400" b="1">
                <a:solidFill>
                  <a:srgbClr val="7C5CB8"/>
                </a:solidFill>
                <a:latin typeface="微软雅黑"/>
                <a:ea typeface="微软雅黑"/>
                <a:cs typeface="微软雅黑"/>
              </a:rPr>
              <a:t>关键模块架构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3C238914-8E3F-4900-91AC-B4F8764A6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2331720"/>
            <a:ext cx="4434840" cy="310896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7C5CB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85D15D33-75DC-43DC-A4DF-5A75EC2DD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372868"/>
            <a:ext cx="41605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6种牌阵模式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748A74F7-4AFC-4375-BF70-70B98E460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2697479"/>
            <a:ext cx="4434840" cy="310896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7C5CB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B80B30D0-A0A9-4EBA-9759-BFF1F5267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738627"/>
            <a:ext cx="41605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多维度个性化解读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33B55DAF-BECC-41EB-B52C-3CB72D10C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3063239"/>
            <a:ext cx="4434840" cy="310896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7C5CB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AE7F68A1-D417-454B-9EDB-78DF9C80E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3104387"/>
            <a:ext cx="41605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78张牌库+双艺术主题</a:t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268F279C-E2B2-4F5E-8FB5-9C3A50D39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3428999"/>
            <a:ext cx="4434840" cy="310896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7C5CB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E1ED14C6-D1DF-47A3-AD61-3BB675EA8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3470147"/>
            <a:ext cx="41605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安全内容过滤机制</a:t>
            </a:r>
          </a:p>
        </p:txBody>
      </p:sp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7AC1C3F9-C6C8-4A58-A3D8-07EEFCB80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3794759"/>
            <a:ext cx="4434840" cy="310896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7C5CB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C15DD8A4-188C-4E28-BBFF-8F1E678F5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3835907"/>
            <a:ext cx="41605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历史/收藏/笔记系统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4254ABC2-34C6-449A-9C11-D7C20AD72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4434840"/>
            <a:ext cx="4983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>
                <a:solidFill>
                  <a:srgbClr val="7C5CB8"/>
                </a:solidFill>
                <a:latin typeface="微软雅黑"/>
                <a:ea typeface="微软雅黑"/>
                <a:cs typeface="微软雅黑"/>
              </a:rPr>
              <a:t>工程质量保障</a:t>
            </a:r>
          </a:p>
        </p:txBody>
      </p:sp>
      <p:sp>
        <p:nvSpPr>
          <p:cNvPr id="29" name="Rounded Rectangle 28">
            <a:extLst xmlns:a="http://schemas.openxmlformats.org/drawingml/2006/main">
              <a:ext uri="{FF2B5EF4-FFF2-40B4-BE49-F238E27FC236}">
                <a16:creationId xmlns:a16="http://schemas.microsoft.com/office/drawing/2014/main" id="{21AAF453-9076-4C6D-8829-CD10D5A3F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4846320"/>
            <a:ext cx="4983480" cy="105156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5F2FC"/>
          </a:solidFill>
          <a:ln xmlns:a="http://schemas.openxmlformats.org/drawingml/2006/main" w="9525">
            <a:solidFill>
              <a:srgbClr val="BCA7E9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72F7FA74-00D0-4666-9245-DFB66EFF2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5010912"/>
            <a:ext cx="452628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1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状态机驱动核心交互逻辑，输入实时校验防错，深浅色主题与多断点适配，全部数据本地持久化可恢复。</a:t>
            </a:r>
          </a:p>
        </p:txBody>
      </p:sp>
    </p:spTree>
    <p:extLst>
      <p:ext uri="{BB962C8B-B14F-4D97-AF65-F5344CB8AC3E}">
        <p14:creationId xmlns:p14="http://schemas.microsoft.com/office/powerpoint/2010/main" val="204814705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FC08C3D-267B-476E-97DF-7CF0279BC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109728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5CB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14D4B68-36C3-440C-A360-CAB523901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47472"/>
            <a:ext cx="8229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6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创新亮点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89A975D-89DA-456D-9C18-7AAA3743B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475488"/>
            <a:ext cx="2331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1300" b="1">
                <a:solidFill>
                  <a:srgbClr val="7C5CB8"/>
                </a:solidFill>
                <a:latin typeface="微软雅黑"/>
                <a:ea typeface="微软雅黑"/>
                <a:cs typeface="微软雅黑"/>
              </a:rPr>
              <a:t>塔罗灵感牌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CD3223A-D1AD-4932-88FA-B41357158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7" y="960120"/>
            <a:ext cx="11155680" cy="146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DD4D00C-D374-4502-AF89-0FB7FD1DD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473952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5 / 6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E332741D-7A51-4061-B661-351240013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298448"/>
            <a:ext cx="10927080" cy="82296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FD3CB04-7912-4D11-AD46-BE9FA67FB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444752"/>
            <a:ext cx="103784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500" b="1">
                <a:solidFill>
                  <a:srgbClr val="7C5CB8"/>
                </a:solidFill>
                <a:latin typeface="微软雅黑"/>
                <a:ea typeface="微软雅黑"/>
                <a:cs typeface="微软雅黑"/>
              </a:rPr>
              <a:t>「 全离线的塔罗灵感反思工具，多维度个性化解读+安全过滤，用象征语言整理情绪。 」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E006BDA4-7E5B-44D7-808E-A2C4CE7C6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395728"/>
            <a:ext cx="603504" cy="82296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7C5CB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354E89EA-B333-4630-B65C-DCFEFFC74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15184"/>
            <a:ext cx="603504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5EF3FF9F-194B-4C6D-A2B5-FCA6C7B72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2395728"/>
            <a:ext cx="6903720" cy="82296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98162727-6F86-4A49-BE56-791FAD445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" y="2395728"/>
            <a:ext cx="64008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2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定位为“灵感反思工具”而非占卜预测，支持6种场景分类生成针对性解读，降低迷信色彩。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1F22EDE7-AC18-4052-AC6F-BD5628A59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383280"/>
            <a:ext cx="603504" cy="82296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7C5CB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48D76841-577F-4095-9C83-17434A2A6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602736"/>
            <a:ext cx="603504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D9BC15D8-9C24-456D-AA49-3796A6EA2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3383280"/>
            <a:ext cx="6903720" cy="82296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72988329-381B-4EB9-A0F9-BF6AA5EA6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" y="3383280"/>
            <a:ext cx="64008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2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洗牌+选牌+翻牌揭示全流程交互，SoundPool音效+vibrator触觉反馈营造完整仪式感体验。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847246FC-2D5E-4F78-9390-376A04DD9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370832"/>
            <a:ext cx="603504" cy="82296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7C5CB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BB9D9CEA-E25A-4EC1-9AC3-6EEEE7D6F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590288"/>
            <a:ext cx="603504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103E7706-81F2-4E2E-AED9-14D748B2C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4370832"/>
            <a:ext cx="6903720" cy="82296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F5BBCD47-D00B-44B5-B918-5AF8D43B9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" y="4370832"/>
            <a:ext cx="64008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2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支持“澄清抽牌”功能，对不明确的解读可追加抽取深入探索，同类应用仅有固定解读。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7308E8BE-220A-4884-AB02-78668F2F1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468112"/>
            <a:ext cx="7589520" cy="566928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5F2FC"/>
          </a:solidFill>
          <a:ln xmlns:a="http://schemas.openxmlformats.org/drawingml/2006/main" w="9525">
            <a:solidFill>
              <a:srgbClr val="BCA7E9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B1CBF6F3-8E7A-41E6-859C-A36D6DC90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559552"/>
            <a:ext cx="71323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1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动画、反馈与统计均为真实功能，DevEco Studio 模拟器与真机上均可稳定复现。</a:t>
            </a:r>
          </a:p>
        </p:txBody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C686D6CC-7326-44D2-B102-ED9EA7913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480" y="1298448"/>
            <a:ext cx="2103120" cy="484632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9846EB5E-3F7C-4A95-9870-4D7E21CDA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1444752"/>
            <a:ext cx="17373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1">
                <a:solidFill>
                  <a:srgbClr val="7C5CB8"/>
                </a:solidFill>
                <a:latin typeface="微软雅黑"/>
                <a:ea typeface="微软雅黑"/>
                <a:cs typeface="微软雅黑"/>
              </a:rPr>
              <a:t>实机验证</a:t>
            </a:r>
          </a:p>
        </p:txBody>
      </p:sp>
      <p:pic>
        <p:nvPicPr>
          <p:cNvPr id="52" name="Picture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222844ce0e4ff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38360" y="1810512"/>
            <a:ext cx="1737360" cy="3810096"/>
          </a:xfrm>
          <a:prstGeom xmlns:a="http://schemas.openxmlformats.org/drawingml/2006/main" prst="roundRect">
            <a:avLst>
              <a:gd name="adj" fmla="val 8772"/>
            </a:avLst>
          </a:prstGeom>
        </p:spPr>
      </p:pic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7C4A3178-751C-4C26-B302-33EEB45B1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5779008"/>
            <a:ext cx="1645920" cy="310896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7C5CB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76657D3C-0BB0-4E32-9B8E-1A2E8DB8D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5838444"/>
            <a:ext cx="16459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9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卡片库·78张灵感卡</a:t>
            </a:r>
          </a:p>
        </p:txBody>
      </p:sp>
    </p:spTree>
    <p:extLst>
      <p:ext uri="{BB962C8B-B14F-4D97-AF65-F5344CB8AC3E}">
        <p14:creationId xmlns:p14="http://schemas.microsoft.com/office/powerpoint/2010/main" val="201792635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3448ECD-BE56-4160-A980-54FAEC6E4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109728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5CB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A702C8F-570C-4160-A361-56439CD97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47472"/>
            <a:ext cx="8229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6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应用价值与展望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71D0BB6-0B64-41B8-8ECA-DDDF111CE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475488"/>
            <a:ext cx="2331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1300" b="1">
                <a:solidFill>
                  <a:srgbClr val="7C5CB8"/>
                </a:solidFill>
                <a:latin typeface="微软雅黑"/>
                <a:ea typeface="微软雅黑"/>
                <a:cs typeface="微软雅黑"/>
              </a:rPr>
              <a:t>塔罗灵感牌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D3E1074D-0421-4552-8132-FB05C72F3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7" y="960120"/>
            <a:ext cx="11155680" cy="146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60899B8-F314-48A8-9F21-A9CD5E820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473952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6 / 6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35565D4D-2B42-425A-943D-FB11F056B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325880"/>
            <a:ext cx="5349240" cy="48006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670942B5-3D01-4498-9435-D8581D340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655064"/>
            <a:ext cx="82296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5CB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5FD4428-3730-424F-A816-DCE2476B1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1627632"/>
            <a:ext cx="3657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500" b="1">
                <a:solidFill>
                  <a:srgbClr val="7C5CB8"/>
                </a:solidFill>
                <a:latin typeface="微软雅黑"/>
                <a:ea typeface="微软雅黑"/>
                <a:cs typeface="微软雅黑"/>
              </a:rPr>
              <a:t>用户价值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F78F90B5-9E91-4D7B-AA47-AB9801AC5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2029968"/>
            <a:ext cx="4681728" cy="10241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1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18-35岁关注自我成长与情绪管理的年轻群体，塔罗/心理自助赛道持续增长，社交媒体传播性强。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9936C1BB-EAF1-410C-877B-52A6EE47D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154679"/>
            <a:ext cx="82296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5CB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B0ED3134-5C68-431D-8E92-37819F8BE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3127248"/>
            <a:ext cx="3657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500" b="1">
                <a:solidFill>
                  <a:srgbClr val="7C5CB8"/>
                </a:solidFill>
                <a:latin typeface="微软雅黑"/>
                <a:ea typeface="微软雅黑"/>
                <a:cs typeface="微软雅黑"/>
              </a:rPr>
              <a:t>用户反馈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3364B6DE-9A87-4DA6-ABCC-76B48D160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3529584"/>
            <a:ext cx="4681728" cy="10241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1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离线+无广告+安全过滤的组合解决核心痛点，仪式感设计有效提升使用时长和留存。用户评价：无愧其名，给他带来了灵感。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FD9BD31-D07E-4CE8-AB2B-9B2C3E7A0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654296"/>
            <a:ext cx="82296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5CB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36E42799-149D-4021-A479-A34213197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4626864"/>
            <a:ext cx="3657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500" b="1">
                <a:solidFill>
                  <a:srgbClr val="7C5CB8"/>
                </a:solidFill>
                <a:latin typeface="微软雅黑"/>
                <a:ea typeface="微软雅黑"/>
                <a:cs typeface="微软雅黑"/>
              </a:rPr>
              <a:t>商业前景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D1FC850F-1853-40AE-A8A9-7F2B34228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5029200"/>
            <a:ext cx="4681728" cy="10241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1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可通过新增艺术主题牌面包、高级牌阵解锁等变现；全离线隐私安全形成差异化壁垒。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A50D3D81-0A6A-47F2-8939-EF9A16420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325880"/>
            <a:ext cx="3017520" cy="214884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AB1A04A1-53EA-4922-BF42-E138DD286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481328"/>
            <a:ext cx="2606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500" b="1">
                <a:solidFill>
                  <a:srgbClr val="7C5CB8"/>
                </a:solidFill>
                <a:latin typeface="微软雅黑"/>
                <a:ea typeface="微软雅黑"/>
                <a:cs typeface="微软雅黑"/>
              </a:rPr>
              <a:t>未来展望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4096AD6F-69D4-486B-97EE-287F907C4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883664"/>
            <a:ext cx="2606040" cy="1481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解读文案库仍在持续扩充中，后续将加入更丰富的心情追踪与回顾报告。
我们将持续迭代体验、扩充内容生态，并借助鸿蒙多设备与AI能力升级产品。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7D8FDAC6-1CF1-411C-8F88-A4A51BFD2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03320"/>
            <a:ext cx="3017520" cy="242316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0B222BB8-96E7-4BAB-A34E-6E3CB0F73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858768"/>
            <a:ext cx="2606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400" b="1">
                <a:solidFill>
                  <a:srgbClr val="7C5CB8"/>
                </a:solidFill>
                <a:latin typeface="微软雅黑"/>
                <a:ea typeface="微软雅黑"/>
                <a:cs typeface="微软雅黑"/>
              </a:rPr>
              <a:t>团队信息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5AD8A111-7FD9-4AD2-B7DD-03CD1C511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4325112"/>
            <a:ext cx="64008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5CB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1B8AAEEC-C089-4F35-B5B4-E396134CB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4242816"/>
            <a:ext cx="2514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常新队 · 队长：易荛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5510F733-01CC-4224-A4B9-225A52533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4718303"/>
            <a:ext cx="64008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5CB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BFFA766C-9D2A-4546-A9B1-653577A9C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4636007"/>
            <a:ext cx="2514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湘潭理工学院 · 信息与计算科学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7F7EB649-425D-48B7-8C89-F8DF68D72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5111495"/>
            <a:ext cx="64008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5CB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0122211A-E130-4052-ADA5-8743B9C0B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5029199"/>
            <a:ext cx="2514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指导老师：徐畅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3086EC07-316D-400D-9951-43C3CA991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5504687"/>
            <a:ext cx="64008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5CB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A1868F4C-91CC-49EA-A1E9-58DDECCFF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5422391"/>
            <a:ext cx="2514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参赛时间：2026年8月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E57DFE7B-DFB1-42C3-9B9A-0F991CD13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5897879"/>
            <a:ext cx="64008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5CB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90D7592B-DEA7-410B-8648-7FD79756A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5815583"/>
            <a:ext cx="2514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联系方式：13367425801</a:t>
            </a:r>
          </a:p>
        </p:txBody>
      </p:sp>
      <p:sp>
        <p:nvSpPr>
          <p:cNvPr id="32" name="Rounded Rectangle 31">
            <a:extLst xmlns:a="http://schemas.openxmlformats.org/drawingml/2006/main">
              <a:ext uri="{FF2B5EF4-FFF2-40B4-BE49-F238E27FC236}">
                <a16:creationId xmlns:a16="http://schemas.microsoft.com/office/drawing/2014/main" id="{983357A6-AE86-42F5-ABF0-EB670D8AF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1325880"/>
            <a:ext cx="2057400" cy="48006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2589C62E-3A92-4DB4-A2A1-59871C445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1463040"/>
            <a:ext cx="1874519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1">
                <a:solidFill>
                  <a:srgbClr val="7C5CB8"/>
                </a:solidFill>
                <a:latin typeface="微软雅黑"/>
                <a:ea typeface="微软雅黑"/>
                <a:cs typeface="微软雅黑"/>
              </a:rPr>
              <a:t>界面一览</a:t>
            </a:r>
          </a:p>
        </p:txBody>
      </p:sp>
      <p:pic>
        <p:nvPicPr>
          <p:cNvPr id="71" name="Picture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daccef77be4b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06940" y="1810512"/>
            <a:ext cx="1737360" cy="3810096"/>
          </a:xfrm>
          <a:prstGeom xmlns:a="http://schemas.openxmlformats.org/drawingml/2006/main" prst="roundRect">
            <a:avLst>
              <a:gd name="adj" fmla="val 8772"/>
            </a:avLst>
          </a:prstGeom>
        </p:spPr>
      </p:pic>
      <p:sp>
        <p:nvSpPr>
          <p:cNvPr id="35" name="Rounded Rectangle 34">
            <a:extLst xmlns:a="http://schemas.openxmlformats.org/drawingml/2006/main">
              <a:ext uri="{FF2B5EF4-FFF2-40B4-BE49-F238E27FC236}">
                <a16:creationId xmlns:a16="http://schemas.microsoft.com/office/drawing/2014/main" id="{C377987A-2929-4D95-B794-B82A809F8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2368" y="5650992"/>
            <a:ext cx="1737360" cy="310896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7C5CB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53A100FE-8789-4AC8-84DE-BC93AD040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2368" y="5710428"/>
            <a:ext cx="17373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9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抽取·问题与场景配置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C63CC42F-EBAC-4098-80C8-F9BF27857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6473952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塔罗灵感牌 · 参赛作品简介</a:t>
            </a:r>
          </a:p>
        </p:txBody>
      </p:sp>
    </p:spTree>
    <p:extLst>
      <p:ext uri="{BB962C8B-B14F-4D97-AF65-F5344CB8AC3E}">
        <p14:creationId xmlns:p14="http://schemas.microsoft.com/office/powerpoint/2010/main" val="632311631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2026-08-21T02:52:13.8910000Z</dcterms:created>
  <dcterms:modified xsi:type="dcterms:W3CDTF">2026-08-21T02:52:13.8910000Z</dcterms:modified>
</coreProperties>
</file>